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live app (running since before you walked in). Fallback: phone speed test → recorded clip.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back to the cart and the live screen. Leave this up for Q&amp;A — no 'Questions?'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Spectrum is a finite resource.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government carves it into bands, writes the rules for each, and sells the empty ones.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mostly run out of empty.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017520"/>
            <a:ext cx="1399855" cy="77724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5" name="Shape 3"/>
          <p:cNvSpPr/>
          <p:nvPr/>
        </p:nvSpPr>
        <p:spPr>
          <a:xfrm>
            <a:off x="2058223" y="3017520"/>
            <a:ext cx="1290767" cy="777240"/>
          </a:xfrm>
          <a:prstGeom prst="rect">
            <a:avLst/>
          </a:prstGeom>
          <a:solidFill>
            <a:srgbClr val="2E4C73"/>
          </a:solidFill>
          <a:ln/>
        </p:spPr>
      </p:sp>
      <p:sp>
        <p:nvSpPr>
          <p:cNvPr id="6" name="Shape 4"/>
          <p:cNvSpPr/>
          <p:nvPr/>
        </p:nvSpPr>
        <p:spPr>
          <a:xfrm>
            <a:off x="3367278" y="3017520"/>
            <a:ext cx="2163470" cy="777240"/>
          </a:xfrm>
          <a:prstGeom prst="rect">
            <a:avLst/>
          </a:prstGeom>
          <a:solidFill>
            <a:srgbClr val="E8B04B"/>
          </a:solidFill>
          <a:ln/>
        </p:spPr>
      </p:sp>
      <p:sp>
        <p:nvSpPr>
          <p:cNvPr id="7" name="Shape 5"/>
          <p:cNvSpPr/>
          <p:nvPr/>
        </p:nvSpPr>
        <p:spPr>
          <a:xfrm>
            <a:off x="5549036" y="3017520"/>
            <a:ext cx="1508943" cy="77724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8" name="Shape 6"/>
          <p:cNvSpPr/>
          <p:nvPr/>
        </p:nvSpPr>
        <p:spPr>
          <a:xfrm>
            <a:off x="7076267" y="3017520"/>
            <a:ext cx="1399855" cy="777240"/>
          </a:xfrm>
          <a:prstGeom prst="rect">
            <a:avLst/>
          </a:prstGeom>
          <a:solidFill>
            <a:srgbClr val="2E4C73"/>
          </a:solidFill>
          <a:ln/>
        </p:spPr>
      </p:sp>
      <p:sp>
        <p:nvSpPr>
          <p:cNvPr id="9" name="Shape 7"/>
          <p:cNvSpPr/>
          <p:nvPr/>
        </p:nvSpPr>
        <p:spPr>
          <a:xfrm>
            <a:off x="8494410" y="3017520"/>
            <a:ext cx="1618031" cy="77724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10" name="Shape 8"/>
          <p:cNvSpPr/>
          <p:nvPr/>
        </p:nvSpPr>
        <p:spPr>
          <a:xfrm>
            <a:off x="10130729" y="3017520"/>
            <a:ext cx="1399855" cy="777240"/>
          </a:xfrm>
          <a:prstGeom prst="rect">
            <a:avLst/>
          </a:prstGeom>
          <a:solidFill>
            <a:srgbClr val="2E4C7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974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spectrum, fully allocated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52878" y="3867912"/>
            <a:ext cx="4010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3.5–3.8 GHz · federal (DOE links)</a:t>
            </a:r>
            <a:endParaRPr lang="en-US" sz="1300" dirty="0"/>
          </a:p>
        </p:txBody>
      </p:sp>
      <p:sp>
        <p:nvSpPr>
          <p:cNvPr id="13" name="s1_5g"/>
          <p:cNvSpPr/>
          <p:nvPr/>
        </p:nvSpPr>
        <p:spPr>
          <a:xfrm>
            <a:off x="640080" y="45262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mid-band was federal-only for decades — </a:t>
            </a:r>
            <a:pPr algn="ctr" indent="0" marL="0">
              <a:buNone/>
            </a:pPr>
            <a:r>
              <a:rPr lang="en-US" sz="1900" b="1" i="1" dirty="0">
                <a:solidFill>
                  <a:srgbClr val="005E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it's being auctioned to 5G.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0080" y="626364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LINDA</a:t>
            </a:r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Live IQ Navigation and Display Application    ·    Mustafa A. Omran    ·    Mentors: Aric Sanders · Dan Kuester    ·    NIST SURF 2026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question is one number: the guard band.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057400"/>
            <a:ext cx="3566160" cy="1143000"/>
          </a:xfrm>
          <a:prstGeom prst="roundRect">
            <a:avLst>
              <a:gd name="adj" fmla="val 4800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05740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/ DOE link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80960" y="2057400"/>
            <a:ext cx="3566160" cy="1143000"/>
          </a:xfrm>
          <a:prstGeom prst="roundRect">
            <a:avLst>
              <a:gd name="adj" fmla="val 4800"/>
            </a:avLst>
          </a:prstGeom>
          <a:solidFill>
            <a:srgbClr val="005EA2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0" y="205740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base station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2240280"/>
            <a:ext cx="2834640" cy="777240"/>
          </a:xfrm>
          <a:prstGeom prst="roundRect">
            <a:avLst>
              <a:gd name="adj" fmla="val 7059"/>
            </a:avLst>
          </a:prstGeom>
          <a:solidFill>
            <a:srgbClr val="EEF2F7"/>
          </a:solidFill>
          <a:ln w="12700">
            <a:solidFill>
              <a:srgbClr val="3B6FA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663440" y="2240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band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empty spectrum 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→</a:t>
            </a:r>
            <a:endParaRPr lang="en-US" sz="1200" dirty="0"/>
          </a:p>
        </p:txBody>
      </p:sp>
      <p:sp>
        <p:nvSpPr>
          <p:cNvPr id="10" name="s2_toolittle"/>
          <p:cNvSpPr/>
          <p:nvPr/>
        </p:nvSpPr>
        <p:spPr>
          <a:xfrm>
            <a:off x="914400" y="39776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5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little  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leakage knocks out federal links.</a:t>
            </a:r>
            <a:endParaRPr lang="en-US" sz="1700" dirty="0"/>
          </a:p>
        </p:txBody>
      </p:sp>
      <p:sp>
        <p:nvSpPr>
          <p:cNvPr id="11" name="s2_toomuch"/>
          <p:cNvSpPr/>
          <p:nvPr/>
        </p:nvSpPr>
        <p:spPr>
          <a:xfrm>
            <a:off x="6217920" y="3977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005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 public resource fenced off; billions left on the table.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" y="52578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NIST doesn't pick the number. It hands the people who do a measurement they can trust.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LINDA · NIST SURF 2026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00023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1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catch: the antenna you measure with changes the answer.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 reference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737360" y="2194560"/>
            <a:ext cx="2926080" cy="2194560"/>
          </a:xfrm>
          <a:prstGeom prst="roundRect">
            <a:avLst>
              <a:gd name="adj" fmla="val 2500"/>
            </a:avLst>
          </a:prstGeom>
          <a:solidFill>
            <a:srgbClr val="16213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74520" y="2852928"/>
            <a:ext cx="1024128" cy="82296"/>
          </a:xfrm>
          <a:prstGeom prst="rect">
            <a:avLst/>
          </a:prstGeom>
          <a:solidFill>
            <a:srgbClr val="4C8FD6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874520" y="3401568"/>
            <a:ext cx="1375258" cy="82296"/>
          </a:xfrm>
          <a:prstGeom prst="rect">
            <a:avLst/>
          </a:prstGeom>
          <a:solidFill>
            <a:srgbClr val="4C8FD6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874520" y="3840480"/>
            <a:ext cx="1726387" cy="82296"/>
          </a:xfrm>
          <a:prstGeom prst="rect">
            <a:avLst/>
          </a:prstGeom>
          <a:solidFill>
            <a:srgbClr val="4C8FD6">
              <a:alpha val="4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4434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signals — reported weaker</a:t>
            </a:r>
            <a:endParaRPr lang="en-US" sz="1250" dirty="0"/>
          </a:p>
        </p:txBody>
      </p:sp>
      <p:sp>
        <p:nvSpPr>
          <p:cNvPr id="9" name="s3_dishLbl"/>
          <p:cNvSpPr/>
          <p:nvPr/>
        </p:nvSpPr>
        <p:spPr>
          <a:xfrm>
            <a:off x="630936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dish  ( &gt;30 dBi )</a:t>
            </a:r>
            <a:endParaRPr lang="en-US" sz="1600" dirty="0"/>
          </a:p>
        </p:txBody>
      </p:sp>
      <p:sp>
        <p:nvSpPr>
          <p:cNvPr id="10" name="s3_dishPanel"/>
          <p:cNvSpPr/>
          <p:nvPr/>
        </p:nvSpPr>
        <p:spPr>
          <a:xfrm>
            <a:off x="7406640" y="2194560"/>
            <a:ext cx="2926080" cy="2194560"/>
          </a:xfrm>
          <a:prstGeom prst="roundRect">
            <a:avLst>
              <a:gd name="adj" fmla="val 2500"/>
            </a:avLst>
          </a:prstGeom>
          <a:solidFill>
            <a:srgbClr val="26406E"/>
          </a:solidFill>
          <a:ln w="12700">
            <a:solidFill>
              <a:srgbClr val="3B6FA0"/>
            </a:solidFill>
            <a:prstDash val="solid"/>
          </a:ln>
        </p:spPr>
      </p:sp>
      <p:sp>
        <p:nvSpPr>
          <p:cNvPr id="11" name="s3_dishB1"/>
          <p:cNvSpPr/>
          <p:nvPr/>
        </p:nvSpPr>
        <p:spPr>
          <a:xfrm>
            <a:off x="7543800" y="2852928"/>
            <a:ext cx="1024128" cy="100584"/>
          </a:xfrm>
          <a:prstGeom prst="rect">
            <a:avLst/>
          </a:prstGeom>
          <a:solidFill>
            <a:srgbClr val="8CC0F0"/>
          </a:solidFill>
          <a:ln/>
        </p:spPr>
      </p:sp>
      <p:sp>
        <p:nvSpPr>
          <p:cNvPr id="12" name="s3_dishB2"/>
          <p:cNvSpPr/>
          <p:nvPr/>
        </p:nvSpPr>
        <p:spPr>
          <a:xfrm>
            <a:off x="7543800" y="3401568"/>
            <a:ext cx="1375258" cy="100584"/>
          </a:xfrm>
          <a:prstGeom prst="rect">
            <a:avLst/>
          </a:prstGeom>
          <a:solidFill>
            <a:srgbClr val="8CC0F0"/>
          </a:solidFill>
          <a:ln/>
        </p:spPr>
      </p:sp>
      <p:sp>
        <p:nvSpPr>
          <p:cNvPr id="13" name="s3_dishB3"/>
          <p:cNvSpPr/>
          <p:nvPr/>
        </p:nvSpPr>
        <p:spPr>
          <a:xfrm>
            <a:off x="7543800" y="3840480"/>
            <a:ext cx="1726387" cy="100584"/>
          </a:xfrm>
          <a:prstGeom prst="rect">
            <a:avLst/>
          </a:prstGeom>
          <a:solidFill>
            <a:srgbClr val="8CC0F0"/>
          </a:solidFill>
          <a:ln/>
        </p:spPr>
      </p:sp>
      <p:sp>
        <p:nvSpPr>
          <p:cNvPr id="14" name="s3_dishCap"/>
          <p:cNvSpPr/>
          <p:nvPr/>
        </p:nvSpPr>
        <p:spPr>
          <a:xfrm>
            <a:off x="7406640" y="4434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&gt;30 dBi of gain — the same signals, brighter</a:t>
            </a:r>
            <a:endParaRPr lang="en-US" sz="1250" dirty="0"/>
          </a:p>
        </p:txBody>
      </p:sp>
      <p:sp>
        <p:nvSpPr>
          <p:cNvPr id="15" name="s3_punch"/>
          <p:cNvSpPr/>
          <p:nvPr/>
        </p:nvSpPr>
        <p:spPr>
          <a:xfrm>
            <a:off x="640080" y="52578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signals, brighter on the dish. </a:t>
            </a:r>
            <a:pPr algn="ctr" indent="0" marL="0">
              <a:buNone/>
            </a:pPr>
            <a:r>
              <a:rPr lang="en-US" sz="1900" b="1" dirty="0">
                <a:solidFill>
                  <a:srgbClr val="005E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with the omni and you underestimate what the real receiver feels — the optimistic, dangerous answer.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LINDA · NIST SURF 2026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0023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6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striqt turns two antennas and a radio into a measurement.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6583680" cy="786384"/>
          </a:xfrm>
          <a:prstGeom prst="roundRect">
            <a:avLst>
              <a:gd name="adj" fmla="val 5814"/>
            </a:avLst>
          </a:prstGeom>
          <a:solidFill>
            <a:srgbClr val="EEF2F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865376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MS/s → real calibrated dBm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203704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Y-factor calibration: measures the receiver's own noise temperature and corrects for it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679192"/>
            <a:ext cx="6583680" cy="786384"/>
          </a:xfrm>
          <a:prstGeom prst="roundRect">
            <a:avLst>
              <a:gd name="adj" fmla="val 5814"/>
            </a:avLst>
          </a:prstGeom>
          <a:solidFill>
            <a:srgbClr val="EEF2F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761488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measurements, 5 built for 5G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099816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PSS / SSS correlation, SSB spectrogram, cyclic autocorrelation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575304"/>
            <a:ext cx="6583680" cy="786384"/>
          </a:xfrm>
          <a:prstGeom prst="roundRect">
            <a:avLst>
              <a:gd name="adj" fmla="val 5814"/>
            </a:avLst>
          </a:prstGeom>
          <a:solidFill>
            <a:srgbClr val="EEF2F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657600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Publication-grade figures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and NIST report styles ship in the repo — batch is a design choice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471416"/>
            <a:ext cx="6583680" cy="786384"/>
          </a:xfrm>
          <a:prstGeom prst="roundRect">
            <a:avLst>
              <a:gd name="adj" fmla="val 5814"/>
            </a:avLst>
          </a:prstGeom>
          <a:solidFill>
            <a:srgbClr val="EEF2F7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553712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sensor-sweep  spec.yaml → archive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489204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YAML, one command, an archive of exactly what was in the air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0" y="1783080"/>
            <a:ext cx="3749040" cy="274320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2468880"/>
            <a:ext cx="1312164" cy="54864"/>
          </a:xfrm>
          <a:prstGeom prst="rect">
            <a:avLst/>
          </a:prstGeom>
          <a:solidFill>
            <a:srgbClr val="4C8FD6">
              <a:alpha val="5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909560" y="3017520"/>
            <a:ext cx="1762049" cy="54864"/>
          </a:xfrm>
          <a:prstGeom prst="rect">
            <a:avLst/>
          </a:prstGeom>
          <a:solidFill>
            <a:srgbClr val="4C8FD6">
              <a:alpha val="5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909560" y="3429000"/>
            <a:ext cx="2211934" cy="54864"/>
          </a:xfrm>
          <a:prstGeom prst="rect">
            <a:avLst/>
          </a:prstGeom>
          <a:solidFill>
            <a:srgbClr val="4C8FD6">
              <a:alpha val="5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909560" y="3977640"/>
            <a:ext cx="1312164" cy="54864"/>
          </a:xfrm>
          <a:prstGeom prst="rect">
            <a:avLst/>
          </a:prstGeom>
          <a:solidFill>
            <a:srgbClr val="4C8FD6">
              <a:alpha val="5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45811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striqt — D. Kuester, NIST</a:t>
            </a:r>
            <a:endParaRPr lang="en-US" sz="1250" dirty="0"/>
          </a:p>
        </p:txBody>
      </p:sp>
      <p:sp>
        <p:nvSpPr>
          <p:cNvPr id="21" name="s4_punch"/>
          <p:cNvSpPr/>
          <p:nvPr/>
        </p:nvSpPr>
        <p:spPr>
          <a:xfrm>
            <a:off x="7772400" y="50292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serious, real-time instrument — built for batch. </a:t>
            </a:r>
            <a:pPr algn="l" indent="0" marL="0">
              <a:lnSpc>
                <a:spcPct val="102000"/>
              </a:lnSpc>
              <a:buNone/>
            </a:pPr>
            <a:r>
              <a:rPr lang="en-US" sz="1700" b="1" i="1" dirty="0">
                <a:solidFill>
                  <a:srgbClr val="005E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sees everything, and shows you none of it live.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LINDA · NIST SURF 2026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00023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field, you point it and walk away for a week.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5E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88920" y="184708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5E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5 min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88920" y="262432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the clock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5E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week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88920" y="340156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follows a 24-hour cycle — a short survey is unreliable, not just smaller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178308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identical, flawless data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2148840"/>
            <a:ext cx="2606040" cy="1920240"/>
          </a:xfrm>
          <a:prstGeom prst="roundRect">
            <a:avLst>
              <a:gd name="adj" fmla="val 2857"/>
            </a:avLst>
          </a:prstGeom>
          <a:solidFill>
            <a:srgbClr val="16213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2724912"/>
            <a:ext cx="912114" cy="54864"/>
          </a:xfrm>
          <a:prstGeom prst="rect">
            <a:avLst/>
          </a:prstGeom>
          <a:solidFill>
            <a:srgbClr val="4C8FD6">
              <a:alpha val="5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172200" y="3204972"/>
            <a:ext cx="1224839" cy="54864"/>
          </a:xfrm>
          <a:prstGeom prst="rect">
            <a:avLst/>
          </a:prstGeom>
          <a:solidFill>
            <a:srgbClr val="4C8FD6">
              <a:alpha val="5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172200" y="3589020"/>
            <a:ext cx="1537564" cy="54864"/>
          </a:xfrm>
          <a:prstGeom prst="rect">
            <a:avLst/>
          </a:prstGeom>
          <a:solidFill>
            <a:srgbClr val="4C8FD6">
              <a:alpha val="5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915400" y="2148840"/>
            <a:ext cx="2606040" cy="1920240"/>
          </a:xfrm>
          <a:prstGeom prst="roundRect">
            <a:avLst>
              <a:gd name="adj" fmla="val 2857"/>
            </a:avLst>
          </a:prstGeom>
          <a:solidFill>
            <a:srgbClr val="16213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52560" y="2724912"/>
            <a:ext cx="912114" cy="54864"/>
          </a:xfrm>
          <a:prstGeom prst="rect">
            <a:avLst/>
          </a:prstGeom>
          <a:solidFill>
            <a:srgbClr val="4C8FD6">
              <a:alpha val="5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052560" y="3204972"/>
            <a:ext cx="1224839" cy="54864"/>
          </a:xfrm>
          <a:prstGeom prst="rect">
            <a:avLst/>
          </a:prstGeom>
          <a:solidFill>
            <a:srgbClr val="4C8FD6">
              <a:alpha val="5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052560" y="3589020"/>
            <a:ext cx="1537564" cy="54864"/>
          </a:xfrm>
          <a:prstGeom prst="rect">
            <a:avLst/>
          </a:prstGeom>
          <a:solidFill>
            <a:srgbClr val="4C8FD6">
              <a:alpha val="55000"/>
            </a:srgbClr>
          </a:solidFill>
          <a:ln/>
        </p:spPr>
      </p:sp>
      <p:sp>
        <p:nvSpPr>
          <p:cNvPr id="18" name="s5_capA"/>
          <p:cNvSpPr/>
          <p:nvPr/>
        </p:nvSpPr>
        <p:spPr>
          <a:xfrm>
            <a:off x="6035040" y="4114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 → the sky</a:t>
            </a:r>
            <a:endParaRPr lang="en-US" sz="1500" dirty="0"/>
          </a:p>
        </p:txBody>
      </p:sp>
      <p:sp>
        <p:nvSpPr>
          <p:cNvPr id="19" name="s5_capB"/>
          <p:cNvSpPr/>
          <p:nvPr/>
        </p:nvSpPr>
        <p:spPr>
          <a:xfrm>
            <a:off x="8915400" y="4114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5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 → a wall</a:t>
            </a:r>
            <a:endParaRPr lang="en-US" sz="1500" dirty="0"/>
          </a:p>
        </p:txBody>
      </p:sp>
      <p:sp>
        <p:nvSpPr>
          <p:cNvPr id="20" name="s5_punch"/>
          <p:cNvSpPr/>
          <p:nvPr/>
        </p:nvSpPr>
        <p:spPr>
          <a:xfrm>
            <a:off x="640080" y="5074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700" b="1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loose cable, a dead front end, a quiet band — striqt archives them all as flawless. You find out when the week is gone. You're recording on faith.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LINDA · NIST SURF 2026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00023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2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64008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LINDA — the window striqt never had.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3886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antennas  ·  one shared scale  ·  verified against the hardware  ·  any radio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4389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→ the peak → change a setting → the form → AHAWI → a $-cheap radio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89720" y="2103120"/>
            <a:ext cx="850392" cy="1234440"/>
          </a:xfrm>
          <a:prstGeom prst="roundRect">
            <a:avLst>
              <a:gd name="adj" fmla="val 6452"/>
            </a:avLst>
          </a:prstGeom>
          <a:solidFill>
            <a:srgbClr val="16213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0" y="2473452"/>
            <a:ext cx="297637" cy="54864"/>
          </a:xfrm>
          <a:prstGeom prst="rect">
            <a:avLst/>
          </a:prstGeom>
          <a:solidFill>
            <a:srgbClr val="4C8FD6">
              <a:alpha val="5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26880" y="2868473"/>
            <a:ext cx="399684" cy="54864"/>
          </a:xfrm>
          <a:prstGeom prst="rect">
            <a:avLst/>
          </a:prstGeom>
          <a:solidFill>
            <a:srgbClr val="4C8FD6">
              <a:alpha val="5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204704" y="2103120"/>
            <a:ext cx="850392" cy="1234440"/>
          </a:xfrm>
          <a:prstGeom prst="roundRect">
            <a:avLst>
              <a:gd name="adj" fmla="val 6452"/>
            </a:avLst>
          </a:prstGeom>
          <a:solidFill>
            <a:srgbClr val="16213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41864" y="2448763"/>
            <a:ext cx="297637" cy="54864"/>
          </a:xfrm>
          <a:prstGeom prst="rect">
            <a:avLst/>
          </a:prstGeom>
          <a:solidFill>
            <a:srgbClr val="4C8FD6">
              <a:alpha val="5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341864" y="2782062"/>
            <a:ext cx="399684" cy="54864"/>
          </a:xfrm>
          <a:prstGeom prst="rect">
            <a:avLst/>
          </a:prstGeom>
          <a:solidFill>
            <a:srgbClr val="4C8FD6">
              <a:alpha val="5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341864" y="2621585"/>
            <a:ext cx="697321" cy="118872"/>
          </a:xfrm>
          <a:prstGeom prst="rect">
            <a:avLst/>
          </a:prstGeom>
          <a:solidFill>
            <a:srgbClr val="E8B04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LINDA · NIST SURF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the measurement — and trust it — on any radio.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3453384" cy="1691640"/>
          </a:xfrm>
          <a:prstGeom prst="roundRect">
            <a:avLst>
              <a:gd name="adj" fmla="val 3243"/>
            </a:avLst>
          </a:prstGeom>
          <a:solidFill>
            <a:srgbClr val="EEF2F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2029968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Eyes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68680" y="2560320"/>
            <a:ext cx="2996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live, and know you're recording what you meant to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67784" y="1874520"/>
            <a:ext cx="3453384" cy="1691640"/>
          </a:xfrm>
          <a:prstGeom prst="roundRect">
            <a:avLst>
              <a:gd name="adj" fmla="val 3243"/>
            </a:avLst>
          </a:prstGeom>
          <a:solidFill>
            <a:srgbClr val="EEF2F7"/>
          </a:solidFill>
          <a:ln/>
        </p:spPr>
      </p:sp>
      <p:sp>
        <p:nvSpPr>
          <p:cNvPr id="7" name="Text 5"/>
          <p:cNvSpPr/>
          <p:nvPr/>
        </p:nvSpPr>
        <p:spPr>
          <a:xfrm>
            <a:off x="4596384" y="2029968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96384" y="2560320"/>
            <a:ext cx="2996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the hardware; records into the group's archive with position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95488" y="1874520"/>
            <a:ext cx="3453384" cy="1691640"/>
          </a:xfrm>
          <a:prstGeom prst="roundRect">
            <a:avLst>
              <a:gd name="adj" fmla="val 3243"/>
            </a:avLst>
          </a:prstGeom>
          <a:solidFill>
            <a:srgbClr val="EEF2F7"/>
          </a:solidFill>
          <a:ln/>
        </p:spPr>
      </p:sp>
      <p:sp>
        <p:nvSpPr>
          <p:cNvPr id="10" name="Text 8"/>
          <p:cNvSpPr/>
          <p:nvPr/>
        </p:nvSpPr>
        <p:spPr>
          <a:xfrm>
            <a:off x="8324088" y="2029968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Anywhere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24088" y="2560320"/>
            <a:ext cx="2996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instrument-grade radio, or a two-orders-of-magnitude cheaper one</a:t>
            </a:r>
            <a:endParaRPr lang="en-US" sz="1350" dirty="0"/>
          </a:p>
        </p:txBody>
      </p:sp>
      <p:sp>
        <p:nvSpPr>
          <p:cNvPr id="12" name="s7_audit"/>
          <p:cNvSpPr/>
          <p:nvPr/>
        </p:nvSpPr>
        <p:spPr>
          <a:xfrm>
            <a:off x="640080" y="38862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05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 handed it over:  </a:t>
            </a:r>
            <a:pPr algn="ctr" indent="0" marL="0"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26-finding audit against my own system — every one fixed, each with a written test.</a:t>
            </a:r>
            <a:endParaRPr lang="en-US" sz="1550" dirty="0"/>
          </a:p>
        </p:txBody>
      </p:sp>
      <p:sp>
        <p:nvSpPr>
          <p:cNvPr id="13" name="s7_reach"/>
          <p:cNvSpPr/>
          <p:nvPr/>
        </p:nvSpPr>
        <p:spPr>
          <a:xfrm>
            <a:off x="640080" y="44348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question is everywhere:  CBRS vs. naval radar  ·  6 GHz Wi-Fi over utility microwave  ·  radar altimeters.</a:t>
            </a:r>
            <a:endParaRPr lang="en-US" sz="1550" dirty="0"/>
          </a:p>
        </p:txBody>
      </p:sp>
      <p:sp>
        <p:nvSpPr>
          <p:cNvPr id="14" name="s7_final"/>
          <p:cNvSpPr/>
          <p:nvPr/>
        </p:nvSpPr>
        <p:spPr>
          <a:xfrm>
            <a:off x="640080" y="51206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900" b="1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running right now — the address is on the screen. This summer I built the thing that lets you watch that measurement, and trust it.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LINDA · NIST SURF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0023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1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2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2026-08-02T17:33:24Z</dcterms:created>
  <dcterms:modified xsi:type="dcterms:W3CDTF">2026-08-02T17:33:24Z</dcterms:modified>
</cp:coreProperties>
</file>