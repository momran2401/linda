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56" r:id="rId10"/>
    <p:sldId id="267" r:id="rId11"/>
    <p:sldId id="268" r:id="rId12"/>
    <p:sldId id="269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45"/>
  </p:normalViewPr>
  <p:slideViewPr>
    <p:cSldViewPr snapToGrid="0" snapToObjects="1">
      <p:cViewPr>
        <p:scale>
          <a:sx n="105" d="100"/>
          <a:sy n="105" d="100"/>
        </p:scale>
        <p:origin x="656" y="9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2416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Beat: oil/minerals analogy, then the band, then the auction. Don't read the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Land 'wrong in both directions'. The NIST line is the turn into the science.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Pause before the red line. This is the thesis of the whole research programme.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Gesture at the cart, not the slide. The dish joke lands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Credit Dan by name and look at him. Don't read the pipeline boxes; narrate two of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Slowest slide in the deck. Let the headline sit before you speak.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BD7D9-9FCA-510B-7489-E3560388E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F8C4FE-D6F9-7FD2-9FD3-8CE80CE362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0AAA95-2CBE-7068-8E27-1238C9E084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Up before you speak. Don't read it. First words are the spectrum-as-a-resource line.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DB096-2F38-F29C-FE27-974A4265DC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66319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Up before you speak. Don't read it. First words are the spectrum-as-a-resource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023699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Click 3, then cut back to the live view and scrub.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Gabe beat. Point at the second screen, not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 here. Do not add a 'Questions?' slide. Stop talking after 'worth anything'.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oug Montgomery | NIST">
            <a:extLst>
              <a:ext uri="{FF2B5EF4-FFF2-40B4-BE49-F238E27FC236}">
                <a16:creationId xmlns:a16="http://schemas.microsoft.com/office/drawing/2014/main" id="{D07B0B39-DA5C-DBD1-180F-AD2DA9779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599" y="284240"/>
            <a:ext cx="2040467" cy="7629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304924-BDBC-F740-44F2-15A443DF1D6D}"/>
              </a:ext>
            </a:extLst>
          </p:cNvPr>
          <p:cNvSpPr txBox="1"/>
          <p:nvPr/>
        </p:nvSpPr>
        <p:spPr>
          <a:xfrm>
            <a:off x="243839" y="1602254"/>
            <a:ext cx="43281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Visualization Frontends 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Cellular 5G-NR Measurements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66F997-4474-D6EC-ECAB-98F6A4FD0A94}"/>
              </a:ext>
            </a:extLst>
          </p:cNvPr>
          <p:cNvSpPr txBox="1"/>
          <p:nvPr/>
        </p:nvSpPr>
        <p:spPr>
          <a:xfrm>
            <a:off x="0" y="4166762"/>
            <a:ext cx="9143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Mustafa Omran   ·   NIST SURF 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4DE3B5-E1DC-4A78-27DE-6D945F9760CB}"/>
              </a:ext>
            </a:extLst>
          </p:cNvPr>
          <p:cNvSpPr txBox="1"/>
          <p:nvPr/>
        </p:nvSpPr>
        <p:spPr>
          <a:xfrm>
            <a:off x="0" y="4489928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Systems Metrology Group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Mentors: Aric Sanders, Dan Kuester</a:t>
            </a:r>
          </a:p>
        </p:txBody>
      </p:sp>
    </p:spTree>
    <p:extLst>
      <p:ext uri="{BB962C8B-B14F-4D97-AF65-F5344CB8AC3E}">
        <p14:creationId xmlns:p14="http://schemas.microsoft.com/office/powerpoint/2010/main" val="11696839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88352" y="32918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700" b="1" spc="180">
                <a:solidFill>
                  <a:srgbClr val="1A2029"/>
                </a:solidFill>
                <a:latin typeface="Arial"/>
              </a:rPr>
              <a:t>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88352" y="562356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00" b="1" spc="110">
                <a:solidFill>
                  <a:srgbClr val="8D96A5"/>
                </a:solidFill>
                <a:latin typeface="Arial"/>
              </a:rPr>
              <a:t>SURF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9846" y="4783226"/>
            <a:ext cx="21946" cy="43891"/>
          </a:xfrm>
          <a:prstGeom prst="rect">
            <a:avLst/>
          </a:prstGeom>
          <a:solidFill>
            <a:srgbClr val="8D96A5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38251" y="4761281"/>
            <a:ext cx="21946" cy="65837"/>
          </a:xfrm>
          <a:prstGeom prst="rect">
            <a:avLst/>
          </a:prstGeom>
          <a:solidFill>
            <a:srgbClr val="8D96A5">
              <a:alpha val="6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6656" y="4706417"/>
            <a:ext cx="21946" cy="120701"/>
          </a:xfrm>
          <a:prstGeom prst="rect">
            <a:avLst/>
          </a:prstGeom>
          <a:solidFill>
            <a:srgbClr val="8D96A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5061" y="4761281"/>
            <a:ext cx="21946" cy="65837"/>
          </a:xfrm>
          <a:prstGeom prst="rect">
            <a:avLst/>
          </a:prstGeom>
          <a:solidFill>
            <a:srgbClr val="8D96A5">
              <a:alpha val="6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53466" y="4794199"/>
            <a:ext cx="21946" cy="32918"/>
          </a:xfrm>
          <a:prstGeom prst="rect">
            <a:avLst/>
          </a:prstGeom>
          <a:solidFill>
            <a:srgbClr val="8D96A5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9846" y="4849063"/>
            <a:ext cx="740664" cy="10973"/>
          </a:xfrm>
          <a:prstGeom prst="rect">
            <a:avLst/>
          </a:prstGeom>
          <a:solidFill>
            <a:srgbClr val="8D96A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" y="4706417"/>
            <a:ext cx="822960" cy="1426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36" b="1" spc="210">
                <a:solidFill>
                  <a:srgbClr val="8D96A5"/>
                </a:solidFill>
                <a:latin typeface="Arial"/>
              </a:rPr>
              <a:t>LINDA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9184"/>
            <a:ext cx="5486400" cy="19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spc="90">
                <a:solidFill>
                  <a:srgbClr val="2563EB"/>
                </a:solidFill>
                <a:latin typeface="Arial"/>
              </a:rPr>
              <a:t>THE RESOURCE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03504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A2029"/>
                </a:solidFill>
                <a:latin typeface="Arial"/>
              </a:rPr>
              <a:t>Spectrum is finite, and it is being sold.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417320"/>
            <a:ext cx="32461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2029"/>
                </a:solidFill>
                <a:latin typeface="Arial"/>
              </a:rPr>
              <a:t>3.5 to 3.8 GHz has been federal-only for a very long time.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150" b="0">
                <a:solidFill>
                  <a:srgbClr val="566072"/>
                </a:solidFill>
                <a:latin typeface="Arial"/>
              </a:rPr>
              <a:t>Department of Energy point-to-point microwave links carry dam telemetry, reservoir levels and grid monitoring across terrain where fibre isn't realistic.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150" b="1">
                <a:solidFill>
                  <a:srgbClr val="1A2029"/>
                </a:solidFill>
                <a:latin typeface="Arial"/>
              </a:rPr>
              <a:t>That same band is now being auctioned to carriers for 5G.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783080"/>
            <a:ext cx="4416552" cy="566928"/>
          </a:xfrm>
          <a:prstGeom prst="rect">
            <a:avLst/>
          </a:prstGeom>
          <a:solidFill>
            <a:srgbClr val="F3F5F9"/>
          </a:solidFill>
          <a:ln w="12700">
            <a:solidFill>
              <a:srgbClr val="D5DBE4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60520" y="1783080"/>
            <a:ext cx="2473269" cy="566928"/>
          </a:xfrm>
          <a:prstGeom prst="rect">
            <a:avLst/>
          </a:prstGeom>
          <a:solidFill>
            <a:srgbClr val="E4ECFD"/>
          </a:solidFill>
          <a:ln w="15875">
            <a:solidFill>
              <a:srgbClr val="2563E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33789" y="1783080"/>
            <a:ext cx="1943283" cy="566928"/>
          </a:xfrm>
          <a:prstGeom prst="rect">
            <a:avLst/>
          </a:prstGeom>
          <a:solidFill>
            <a:srgbClr val="FBEAEA"/>
          </a:solidFill>
          <a:ln w="15875">
            <a:solidFill>
              <a:srgbClr val="CF3A3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60520" y="1911096"/>
            <a:ext cx="247326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spc="60">
                <a:solidFill>
                  <a:srgbClr val="2563EB"/>
                </a:solidFill>
                <a:latin typeface="Arial"/>
              </a:rPr>
              <a:t>FEDERAL INCUMBENT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3789" y="1911096"/>
            <a:ext cx="194328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spc="60">
                <a:solidFill>
                  <a:srgbClr val="CF3A3A"/>
                </a:solidFill>
                <a:latin typeface="Arial"/>
              </a:rPr>
              <a:t>AUCTIONED · 5G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2468880"/>
            <a:ext cx="4416552" cy="9525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76472" y="2551176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8D96A5"/>
                </a:solidFill>
                <a:latin typeface="Arial"/>
              </a:rPr>
              <a:t>3.5 GHz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9741" y="2551176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8D96A5"/>
                </a:solidFill>
                <a:latin typeface="Arial"/>
              </a:rPr>
              <a:t>3.7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4" y="2551176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8D96A5"/>
                </a:solidFill>
                <a:latin typeface="Arial"/>
              </a:rPr>
              <a:t>3.8 GHz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1399032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566072"/>
                </a:solidFill>
                <a:latin typeface="Arial"/>
              </a:rPr>
              <a:t>Neighbours, with nothing between them.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931920"/>
            <a:ext cx="8010144" cy="9525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4078224"/>
            <a:ext cx="80101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A2029"/>
                </a:solidFill>
                <a:latin typeface="Arial"/>
              </a:rPr>
              <a:t>Selling a band works perfectly, as long as what you're selling isn't being used.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88352" y="32918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700" b="1" spc="180">
                <a:solidFill>
                  <a:srgbClr val="1A2029"/>
                </a:solidFill>
                <a:latin typeface="Arial"/>
              </a:rPr>
              <a:t>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88352" y="562356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00" b="1" spc="110">
                <a:solidFill>
                  <a:srgbClr val="8D96A5"/>
                </a:solidFill>
                <a:latin typeface="Arial"/>
              </a:rPr>
              <a:t>SURF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9846" y="4783226"/>
            <a:ext cx="21946" cy="43891"/>
          </a:xfrm>
          <a:prstGeom prst="rect">
            <a:avLst/>
          </a:prstGeom>
          <a:solidFill>
            <a:srgbClr val="8D96A5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38251" y="4761281"/>
            <a:ext cx="21946" cy="65837"/>
          </a:xfrm>
          <a:prstGeom prst="rect">
            <a:avLst/>
          </a:prstGeom>
          <a:solidFill>
            <a:srgbClr val="8D96A5">
              <a:alpha val="6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6656" y="4706417"/>
            <a:ext cx="21946" cy="120701"/>
          </a:xfrm>
          <a:prstGeom prst="rect">
            <a:avLst/>
          </a:prstGeom>
          <a:solidFill>
            <a:srgbClr val="8D96A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5061" y="4761281"/>
            <a:ext cx="21946" cy="65837"/>
          </a:xfrm>
          <a:prstGeom prst="rect">
            <a:avLst/>
          </a:prstGeom>
          <a:solidFill>
            <a:srgbClr val="8D96A5">
              <a:alpha val="6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53466" y="4794199"/>
            <a:ext cx="21946" cy="32918"/>
          </a:xfrm>
          <a:prstGeom prst="rect">
            <a:avLst/>
          </a:prstGeom>
          <a:solidFill>
            <a:srgbClr val="8D96A5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9846" y="4849063"/>
            <a:ext cx="740664" cy="10973"/>
          </a:xfrm>
          <a:prstGeom prst="rect">
            <a:avLst/>
          </a:prstGeom>
          <a:solidFill>
            <a:srgbClr val="8D96A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" y="4706417"/>
            <a:ext cx="822960" cy="1426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36" b="1" spc="210">
                <a:solidFill>
                  <a:srgbClr val="8D96A5"/>
                </a:solidFill>
                <a:latin typeface="Arial"/>
              </a:rPr>
              <a:t>LINDA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9184"/>
            <a:ext cx="5486400" cy="19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spc="90">
                <a:solidFill>
                  <a:srgbClr val="2563EB"/>
                </a:solidFill>
                <a:latin typeface="Arial"/>
              </a:rPr>
              <a:t>THE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03504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1A2029"/>
                </a:solidFill>
                <a:latin typeface="Arial"/>
              </a:rPr>
              <a:t>Too narrow breaks the link.
Too wide burns billions.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66072"/>
                </a:solidFill>
                <a:latin typeface="Arial"/>
              </a:rPr>
              <a:t>A guard band is an empty strip of spectrum left between two competing users. You can be wrong in both directions.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148840"/>
            <a:ext cx="4041648" cy="1481328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2148840"/>
            <a:ext cx="41148" cy="1481328"/>
          </a:xfrm>
          <a:prstGeom prst="rect">
            <a:avLst/>
          </a:prstGeom>
          <a:solidFill>
            <a:srgbClr val="CF3A3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2368296"/>
            <a:ext cx="351129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spc="90">
                <a:solidFill>
                  <a:srgbClr val="CF3A3A"/>
                </a:solidFill>
                <a:latin typeface="Arial"/>
              </a:rPr>
              <a:t>TOO LITTLE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200" b="0">
                <a:solidFill>
                  <a:srgbClr val="1A2029"/>
                </a:solidFill>
                <a:latin typeface="Arial"/>
              </a:rPr>
              <a:t>Leakage from the commercial side starts knocking out federal links. Dam telemetry, reservoir levels, grid monitoring.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01184" y="2148840"/>
            <a:ext cx="4041648" cy="1481328"/>
          </a:xfrm>
          <a:prstGeom prst="rect">
            <a:avLst/>
          </a:prstGeom>
          <a:solidFill>
            <a:srgbClr val="E4ECFD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01184" y="2148840"/>
            <a:ext cx="41148" cy="14813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75504" y="2368296"/>
            <a:ext cx="351129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spc="90">
                <a:solidFill>
                  <a:srgbClr val="2563EB"/>
                </a:solidFill>
                <a:latin typeface="Arial"/>
              </a:rPr>
              <a:t>TOO MUCH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200" b="0">
                <a:solidFill>
                  <a:srgbClr val="1A2029"/>
                </a:solidFill>
                <a:latin typeface="Arial"/>
              </a:rPr>
              <a:t>A public resource is fenced off that nobody is allowed to use, and billions of dollars of auction revenue are left on the table.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950208"/>
            <a:ext cx="8010144" cy="9525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4096512"/>
            <a:ext cx="80101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A2029"/>
                </a:solidFill>
                <a:latin typeface="Arial"/>
              </a:rPr>
              <a:t>NIST doesn't pick that number. NIST hands the people who do a measurement they can trust.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88352" y="32918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700" b="1" spc="180">
                <a:solidFill>
                  <a:srgbClr val="1A2029"/>
                </a:solidFill>
                <a:latin typeface="Arial"/>
              </a:rPr>
              <a:t>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88352" y="562356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00" b="1" spc="110">
                <a:solidFill>
                  <a:srgbClr val="8D96A5"/>
                </a:solidFill>
                <a:latin typeface="Arial"/>
              </a:rPr>
              <a:t>SURF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9846" y="4783226"/>
            <a:ext cx="21946" cy="43891"/>
          </a:xfrm>
          <a:prstGeom prst="rect">
            <a:avLst/>
          </a:prstGeom>
          <a:solidFill>
            <a:srgbClr val="8D96A5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38251" y="4761281"/>
            <a:ext cx="21946" cy="65837"/>
          </a:xfrm>
          <a:prstGeom prst="rect">
            <a:avLst/>
          </a:prstGeom>
          <a:solidFill>
            <a:srgbClr val="8D96A5">
              <a:alpha val="6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6656" y="4706417"/>
            <a:ext cx="21946" cy="120701"/>
          </a:xfrm>
          <a:prstGeom prst="rect">
            <a:avLst/>
          </a:prstGeom>
          <a:solidFill>
            <a:srgbClr val="8D96A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5061" y="4761281"/>
            <a:ext cx="21946" cy="65837"/>
          </a:xfrm>
          <a:prstGeom prst="rect">
            <a:avLst/>
          </a:prstGeom>
          <a:solidFill>
            <a:srgbClr val="8D96A5">
              <a:alpha val="6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53466" y="4794199"/>
            <a:ext cx="21946" cy="32918"/>
          </a:xfrm>
          <a:prstGeom prst="rect">
            <a:avLst/>
          </a:prstGeom>
          <a:solidFill>
            <a:srgbClr val="8D96A5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9846" y="4849063"/>
            <a:ext cx="740664" cy="10973"/>
          </a:xfrm>
          <a:prstGeom prst="rect">
            <a:avLst/>
          </a:prstGeom>
          <a:solidFill>
            <a:srgbClr val="8D96A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" y="4706417"/>
            <a:ext cx="822960" cy="1426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36" b="1" spc="210">
                <a:solidFill>
                  <a:srgbClr val="8D96A5"/>
                </a:solidFill>
                <a:latin typeface="Arial"/>
              </a:rPr>
              <a:t>LINDA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9184"/>
            <a:ext cx="5486400" cy="19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spc="90">
                <a:solidFill>
                  <a:srgbClr val="2563EB"/>
                </a:solidFill>
                <a:latin typeface="Arial"/>
              </a:rP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03504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1A2029"/>
                </a:solidFill>
                <a:latin typeface="Arial"/>
              </a:rPr>
              <a:t>The honest answer depends on which
antenna you measure with.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847088"/>
            <a:ext cx="4041648" cy="1810512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2066544"/>
            <a:ext cx="351129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spc="90">
                <a:solidFill>
                  <a:srgbClr val="566072"/>
                </a:solidFill>
                <a:latin typeface="Arial"/>
              </a:rPr>
              <a:t>OMNIDIRECTIONAL</a:t>
            </a:r>
          </a:p>
          <a:p>
            <a:pPr>
              <a:lnSpc>
                <a:spcPct val="118000"/>
              </a:lnSpc>
              <a:spcBef>
                <a:spcPts val="300"/>
              </a:spcBef>
            </a:pPr>
            <a:r>
              <a:rPr sz="1000" b="1">
                <a:solidFill>
                  <a:srgbClr val="8D96A5"/>
                </a:solidFill>
                <a:latin typeface="Arial"/>
              </a:rPr>
              <a:t>What people normally measure with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sz="1200" b="0">
                <a:solidFill>
                  <a:srgbClr val="1A2029"/>
                </a:solidFill>
                <a:latin typeface="Arial"/>
              </a:rPr>
              <a:t>Hears everything, from every direction, at once. A beam sweeping past is averaged in with the whole sky, so it barely registers.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01184" y="1847088"/>
            <a:ext cx="4041648" cy="1810512"/>
          </a:xfrm>
          <a:prstGeom prst="rect">
            <a:avLst/>
          </a:prstGeom>
          <a:solidFill>
            <a:srgbClr val="E4ECFD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75504" y="2066544"/>
            <a:ext cx="351129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spc="90">
                <a:solidFill>
                  <a:srgbClr val="2563EB"/>
                </a:solidFill>
                <a:latin typeface="Arial"/>
              </a:rPr>
              <a:t>HIGH-GAIN DISH</a:t>
            </a:r>
          </a:p>
          <a:p>
            <a:pPr>
              <a:lnSpc>
                <a:spcPct val="118000"/>
              </a:lnSpc>
              <a:spcBef>
                <a:spcPts val="300"/>
              </a:spcBef>
            </a:pPr>
            <a:r>
              <a:rPr sz="1000" b="1">
                <a:solidFill>
                  <a:srgbClr val="8D96A5"/>
                </a:solidFill>
                <a:latin typeface="Arial"/>
              </a:rPr>
              <a:t>What you are actually protecting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sz="1200" b="0">
                <a:solidFill>
                  <a:srgbClr val="1A2029"/>
                </a:solidFill>
                <a:latin typeface="Arial"/>
              </a:rPr>
              <a:t>Pointed at one thing, with more than 30 dBi of gain in that direction. The same beam arrives at full strength.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785615"/>
            <a:ext cx="80101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566072"/>
                </a:solidFill>
                <a:latin typeface="Arial"/>
              </a:rPr>
              <a:t>Same interference. Two completely different answers.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133087"/>
            <a:ext cx="8010144" cy="475488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4133087"/>
            <a:ext cx="41148" cy="475488"/>
          </a:xfrm>
          <a:prstGeom prst="rect">
            <a:avLst/>
          </a:prstGeom>
          <a:solidFill>
            <a:srgbClr val="CF3A3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" y="4133087"/>
            <a:ext cx="746150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A2029"/>
                </a:solidFill>
                <a:latin typeface="Arial"/>
              </a:rPr>
              <a:t>The omni's answer is the optimistic one. Which is the dangerous direction to be wrong 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88352" y="32918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700" b="1" spc="180">
                <a:solidFill>
                  <a:srgbClr val="1A2029"/>
                </a:solidFill>
                <a:latin typeface="Arial"/>
              </a:rPr>
              <a:t>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88352" y="562356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00" b="1" spc="110">
                <a:solidFill>
                  <a:srgbClr val="8D96A5"/>
                </a:solidFill>
                <a:latin typeface="Arial"/>
              </a:rPr>
              <a:t>SURF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9846" y="4783226"/>
            <a:ext cx="21946" cy="43891"/>
          </a:xfrm>
          <a:prstGeom prst="rect">
            <a:avLst/>
          </a:prstGeom>
          <a:solidFill>
            <a:srgbClr val="8D96A5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38251" y="4761281"/>
            <a:ext cx="21946" cy="65837"/>
          </a:xfrm>
          <a:prstGeom prst="rect">
            <a:avLst/>
          </a:prstGeom>
          <a:solidFill>
            <a:srgbClr val="8D96A5">
              <a:alpha val="6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6656" y="4706417"/>
            <a:ext cx="21946" cy="120701"/>
          </a:xfrm>
          <a:prstGeom prst="rect">
            <a:avLst/>
          </a:prstGeom>
          <a:solidFill>
            <a:srgbClr val="8D96A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5061" y="4761281"/>
            <a:ext cx="21946" cy="65837"/>
          </a:xfrm>
          <a:prstGeom prst="rect">
            <a:avLst/>
          </a:prstGeom>
          <a:solidFill>
            <a:srgbClr val="8D96A5">
              <a:alpha val="6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53466" y="4794199"/>
            <a:ext cx="21946" cy="32918"/>
          </a:xfrm>
          <a:prstGeom prst="rect">
            <a:avLst/>
          </a:prstGeom>
          <a:solidFill>
            <a:srgbClr val="8D96A5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9846" y="4849063"/>
            <a:ext cx="740664" cy="10973"/>
          </a:xfrm>
          <a:prstGeom prst="rect">
            <a:avLst/>
          </a:prstGeom>
          <a:solidFill>
            <a:srgbClr val="8D96A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" y="4706417"/>
            <a:ext cx="822960" cy="1426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36" b="1" spc="210">
                <a:solidFill>
                  <a:srgbClr val="8D96A5"/>
                </a:solidFill>
                <a:latin typeface="Arial"/>
              </a:rPr>
              <a:t>LINDA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9184"/>
            <a:ext cx="5486400" cy="19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spc="90">
                <a:solidFill>
                  <a:srgbClr val="2563EB"/>
                </a:solidFill>
                <a:latin typeface="Arial"/>
              </a:rPr>
              <a:t>THE RIG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03504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1A2029"/>
                </a:solidFill>
                <a:latin typeface="Arial"/>
              </a:rPr>
              <a:t>So the lab records both, at the same time,
on one radio.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700784"/>
            <a:ext cx="2011680" cy="548640"/>
          </a:xfrm>
          <a:prstGeom prst="rect">
            <a:avLst/>
          </a:prstGeom>
          <a:solidFill>
            <a:srgbClr val="F3F5F9"/>
          </a:solidFill>
          <a:ln w="13970">
            <a:solidFill>
              <a:srgbClr val="D5DBE4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700784"/>
            <a:ext cx="186537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A2029"/>
                </a:solidFill>
                <a:latin typeface="Arial"/>
              </a:rPr>
              <a:t>OMNI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</a:pPr>
            <a:r>
              <a:rPr sz="850" b="0">
                <a:solidFill>
                  <a:srgbClr val="8D96A5"/>
                </a:solidFill>
                <a:latin typeface="Arial"/>
              </a:rPr>
              <a:t>reference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468880"/>
            <a:ext cx="2011680" cy="548640"/>
          </a:xfrm>
          <a:prstGeom prst="rect">
            <a:avLst/>
          </a:prstGeom>
          <a:solidFill>
            <a:srgbClr val="E4ECFD"/>
          </a:solidFill>
          <a:ln w="13970">
            <a:solidFill>
              <a:srgbClr val="2563E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468880"/>
            <a:ext cx="186537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2563EB"/>
                </a:solidFill>
                <a:latin typeface="Arial"/>
              </a:rPr>
              <a:t>DISH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</a:pPr>
            <a:r>
              <a:rPr sz="850" b="0">
                <a:solidFill>
                  <a:srgbClr val="8D96A5"/>
                </a:solidFill>
                <a:latin typeface="Arial"/>
              </a:rPr>
              <a:t>32-element array in the field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78608" y="1993392"/>
            <a:ext cx="320040" cy="13970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578608" y="2761488"/>
            <a:ext cx="320040" cy="13970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898648" y="2148840"/>
            <a:ext cx="1298448" cy="603504"/>
          </a:xfrm>
          <a:prstGeom prst="rect">
            <a:avLst/>
          </a:prstGeom>
          <a:solidFill>
            <a:srgbClr val="F3F5F9"/>
          </a:solidFill>
          <a:ln w="13970">
            <a:solidFill>
              <a:srgbClr val="D5DBE4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71800" y="2148840"/>
            <a:ext cx="115214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A2029"/>
                </a:solidFill>
                <a:latin typeface="Arial"/>
              </a:rPr>
              <a:t>BANDPASS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</a:pPr>
            <a:r>
              <a:rPr sz="850" b="0">
                <a:solidFill>
                  <a:srgbClr val="8D96A5"/>
                </a:solidFill>
                <a:latin typeface="Arial"/>
              </a:rPr>
              <a:t>filter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97096" y="2441448"/>
            <a:ext cx="274320" cy="13970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71416" y="2148840"/>
            <a:ext cx="1298448" cy="603504"/>
          </a:xfrm>
          <a:prstGeom prst="rect">
            <a:avLst/>
          </a:prstGeom>
          <a:solidFill>
            <a:srgbClr val="F3F5F9"/>
          </a:solidFill>
          <a:ln w="13970">
            <a:solidFill>
              <a:srgbClr val="D5DBE4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44568" y="2148840"/>
            <a:ext cx="115214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A2029"/>
                </a:solidFill>
                <a:latin typeface="Arial"/>
              </a:rPr>
              <a:t>LNA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</a:pPr>
            <a:r>
              <a:rPr sz="850" b="0">
                <a:solidFill>
                  <a:srgbClr val="8D96A5"/>
                </a:solidFill>
                <a:latin typeface="Arial"/>
              </a:rPr>
              <a:t>amplifier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9864" y="2441448"/>
            <a:ext cx="274320" cy="13970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44184" y="2148840"/>
            <a:ext cx="1298448" cy="603504"/>
          </a:xfrm>
          <a:prstGeom prst="rect">
            <a:avLst/>
          </a:prstGeom>
          <a:solidFill>
            <a:srgbClr val="E4ECFD"/>
          </a:solidFill>
          <a:ln w="13970">
            <a:solidFill>
              <a:srgbClr val="2563E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17336" y="2148840"/>
            <a:ext cx="115214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2563EB"/>
                </a:solidFill>
                <a:latin typeface="Arial"/>
              </a:rPr>
              <a:t>DEEPWAVE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</a:pPr>
            <a:r>
              <a:rPr sz="850" b="0">
                <a:solidFill>
                  <a:srgbClr val="8D96A5"/>
                </a:solidFill>
                <a:latin typeface="Arial"/>
              </a:rPr>
              <a:t>AIR8201B · 2 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42632" y="2441448"/>
            <a:ext cx="274320" cy="13970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16952" y="2148840"/>
            <a:ext cx="1417320" cy="603504"/>
          </a:xfrm>
          <a:prstGeom prst="rect">
            <a:avLst/>
          </a:prstGeom>
          <a:solidFill>
            <a:srgbClr val="E4ECFD"/>
          </a:solidFill>
          <a:ln w="13970">
            <a:solidFill>
              <a:srgbClr val="2563E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90104" y="2148840"/>
            <a:ext cx="127101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2563EB"/>
                </a:solidFill>
                <a:latin typeface="Arial"/>
              </a:rPr>
              <a:t>striqt → LINDA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</a:pPr>
            <a:r>
              <a:rPr sz="850" b="0">
                <a:solidFill>
                  <a:srgbClr val="8D96A5"/>
                </a:solidFill>
                <a:latin typeface="Arial"/>
              </a:rPr>
              <a:t>measure · watch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529584"/>
            <a:ext cx="8010144" cy="56692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3529584"/>
            <a:ext cx="7498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2029"/>
                </a:solidFill>
                <a:latin typeface="Arial"/>
              </a:rPr>
              <a:t>Two antennas, one radio, one clock. The whole point is that the two channels are measured at the same instant, so they can be compared.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261104"/>
            <a:ext cx="80101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8D96A5"/>
                </a:solidFill>
                <a:latin typeface="Arial"/>
              </a:rPr>
              <a:t>The field rig uses a 32-element dipole array. A real dish at these frequencies is too big to move between rooftops.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88352" y="32918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700" b="1" spc="180">
                <a:solidFill>
                  <a:srgbClr val="1A2029"/>
                </a:solidFill>
                <a:latin typeface="Arial"/>
              </a:rPr>
              <a:t>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88352" y="562356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00" b="1" spc="110">
                <a:solidFill>
                  <a:srgbClr val="8D96A5"/>
                </a:solidFill>
                <a:latin typeface="Arial"/>
              </a:rPr>
              <a:t>SURF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9846" y="4783226"/>
            <a:ext cx="21946" cy="43891"/>
          </a:xfrm>
          <a:prstGeom prst="rect">
            <a:avLst/>
          </a:prstGeom>
          <a:solidFill>
            <a:srgbClr val="8D96A5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38251" y="4761281"/>
            <a:ext cx="21946" cy="65837"/>
          </a:xfrm>
          <a:prstGeom prst="rect">
            <a:avLst/>
          </a:prstGeom>
          <a:solidFill>
            <a:srgbClr val="8D96A5">
              <a:alpha val="6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6656" y="4706417"/>
            <a:ext cx="21946" cy="120701"/>
          </a:xfrm>
          <a:prstGeom prst="rect">
            <a:avLst/>
          </a:prstGeom>
          <a:solidFill>
            <a:srgbClr val="8D96A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5061" y="4761281"/>
            <a:ext cx="21946" cy="65837"/>
          </a:xfrm>
          <a:prstGeom prst="rect">
            <a:avLst/>
          </a:prstGeom>
          <a:solidFill>
            <a:srgbClr val="8D96A5">
              <a:alpha val="6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53466" y="4794199"/>
            <a:ext cx="21946" cy="32918"/>
          </a:xfrm>
          <a:prstGeom prst="rect">
            <a:avLst/>
          </a:prstGeom>
          <a:solidFill>
            <a:srgbClr val="8D96A5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9846" y="4849063"/>
            <a:ext cx="740664" cy="10973"/>
          </a:xfrm>
          <a:prstGeom prst="rect">
            <a:avLst/>
          </a:prstGeom>
          <a:solidFill>
            <a:srgbClr val="8D96A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" y="4706417"/>
            <a:ext cx="822960" cy="1426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36" b="1" spc="210">
                <a:solidFill>
                  <a:srgbClr val="8D96A5"/>
                </a:solidFill>
                <a:latin typeface="Arial"/>
              </a:rPr>
              <a:t>LINDA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9184"/>
            <a:ext cx="5486400" cy="19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spc="90">
                <a:solidFill>
                  <a:srgbClr val="2563EB"/>
                </a:solidFill>
                <a:latin typeface="Arial"/>
              </a:rPr>
              <a:t>THE INSTRUMENT   ·   striqt, by Dan Kuester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03504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1A2029"/>
                </a:solidFill>
                <a:latin typeface="Arial"/>
              </a:rPr>
              <a:t>striqt turns raw IQ into calibrated,
real-dBm measurement.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029968"/>
            <a:ext cx="1517904" cy="896112"/>
          </a:xfrm>
          <a:prstGeom prst="rect">
            <a:avLst/>
          </a:prstGeom>
          <a:solidFill>
            <a:srgbClr val="F3F5F9"/>
          </a:solidFill>
          <a:ln w="13970">
            <a:solidFill>
              <a:srgbClr val="D5DBE4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2185416"/>
            <a:ext cx="13350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spc="70">
                <a:solidFill>
                  <a:srgbClr val="1A2029"/>
                </a:solidFill>
                <a:latin typeface="Arial"/>
              </a:rPr>
              <a:t>IQ</a:t>
            </a:r>
          </a:p>
          <a:p>
            <a:pPr algn="ctr">
              <a:lnSpc>
                <a:spcPct val="122000"/>
              </a:lnSpc>
              <a:spcBef>
                <a:spcPts val="400"/>
              </a:spcBef>
            </a:pPr>
            <a:r>
              <a:rPr sz="850" b="0">
                <a:solidFill>
                  <a:srgbClr val="566072"/>
                </a:solidFill>
                <a:latin typeface="Arial"/>
              </a:rPr>
              <a:t>complex baseband,
up to 125 MS/s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35124" y="2450592"/>
            <a:ext cx="82296" cy="13970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267712" y="2029968"/>
            <a:ext cx="1517904" cy="896112"/>
          </a:xfrm>
          <a:prstGeom prst="rect">
            <a:avLst/>
          </a:prstGeom>
          <a:solidFill>
            <a:srgbClr val="E4ECFD"/>
          </a:solidFill>
          <a:ln w="13970">
            <a:solidFill>
              <a:srgbClr val="2563E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59152" y="2185416"/>
            <a:ext cx="13350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spc="70">
                <a:solidFill>
                  <a:srgbClr val="2563EB"/>
                </a:solidFill>
                <a:latin typeface="Arial"/>
              </a:rPr>
              <a:t>RESAMPLE</a:t>
            </a:r>
          </a:p>
          <a:p>
            <a:pPr algn="ctr">
              <a:lnSpc>
                <a:spcPct val="122000"/>
              </a:lnSpc>
              <a:spcBef>
                <a:spcPts val="400"/>
              </a:spcBef>
            </a:pPr>
            <a:r>
              <a:rPr sz="850" b="0">
                <a:solidFill>
                  <a:srgbClr val="566072"/>
                </a:solidFill>
                <a:latin typeface="Arial"/>
              </a:rPr>
              <a:t>exact, in the
frequency domain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35908" y="2450592"/>
            <a:ext cx="82296" cy="13970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968496" y="2029968"/>
            <a:ext cx="1517904" cy="896112"/>
          </a:xfrm>
          <a:prstGeom prst="rect">
            <a:avLst/>
          </a:prstGeom>
          <a:solidFill>
            <a:srgbClr val="E4ECFD"/>
          </a:solidFill>
          <a:ln w="13970">
            <a:solidFill>
              <a:srgbClr val="2563E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59936" y="2185416"/>
            <a:ext cx="13350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spc="70">
                <a:solidFill>
                  <a:srgbClr val="2563EB"/>
                </a:solidFill>
                <a:latin typeface="Arial"/>
              </a:rPr>
              <a:t>CALIBRATE</a:t>
            </a:r>
          </a:p>
          <a:p>
            <a:pPr algn="ctr">
              <a:lnSpc>
                <a:spcPct val="122000"/>
              </a:lnSpc>
              <a:spcBef>
                <a:spcPts val="400"/>
              </a:spcBef>
            </a:pPr>
            <a:r>
              <a:rPr sz="850" b="0">
                <a:solidFill>
                  <a:srgbClr val="566072"/>
                </a:solidFill>
                <a:latin typeface="Arial"/>
              </a:rPr>
              <a:t>Y-factor against a
known noise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36692" y="2450592"/>
            <a:ext cx="82296" cy="13970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69280" y="2029968"/>
            <a:ext cx="1517904" cy="896112"/>
          </a:xfrm>
          <a:prstGeom prst="rect">
            <a:avLst/>
          </a:prstGeom>
          <a:solidFill>
            <a:srgbClr val="F3F5F9"/>
          </a:solidFill>
          <a:ln w="13970">
            <a:solidFill>
              <a:srgbClr val="D5DBE4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60720" y="2185416"/>
            <a:ext cx="13350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spc="70">
                <a:solidFill>
                  <a:srgbClr val="1A2029"/>
                </a:solidFill>
                <a:latin typeface="Arial"/>
              </a:rPr>
              <a:t>ANALYSE</a:t>
            </a:r>
          </a:p>
          <a:p>
            <a:pPr algn="ctr">
              <a:lnSpc>
                <a:spcPct val="122000"/>
              </a:lnSpc>
              <a:spcBef>
                <a:spcPts val="400"/>
              </a:spcBef>
            </a:pPr>
            <a:r>
              <a:rPr sz="850" b="0">
                <a:solidFill>
                  <a:srgbClr val="566072"/>
                </a:solidFill>
                <a:latin typeface="Arial"/>
              </a:rPr>
              <a:t>13 measurements,
5 of them 5G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37476" y="2450592"/>
            <a:ext cx="82296" cy="13970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70064" y="2029968"/>
            <a:ext cx="1517904" cy="896112"/>
          </a:xfrm>
          <a:prstGeom prst="rect">
            <a:avLst/>
          </a:prstGeom>
          <a:solidFill>
            <a:srgbClr val="F3F5F9"/>
          </a:solidFill>
          <a:ln w="13970">
            <a:solidFill>
              <a:srgbClr val="D5DBE4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61504" y="2185416"/>
            <a:ext cx="13350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spc="70">
                <a:solidFill>
                  <a:srgbClr val="1A2029"/>
                </a:solidFill>
                <a:latin typeface="Arial"/>
              </a:rPr>
              <a:t>ARCHIVE</a:t>
            </a:r>
          </a:p>
          <a:p>
            <a:pPr algn="ctr">
              <a:lnSpc>
                <a:spcPct val="122000"/>
              </a:lnSpc>
              <a:spcBef>
                <a:spcPts val="400"/>
              </a:spcBef>
            </a:pPr>
            <a:r>
              <a:rPr sz="850" b="0">
                <a:solidFill>
                  <a:srgbClr val="566072"/>
                </a:solidFill>
                <a:latin typeface="Arial"/>
              </a:rPr>
              <a:t>labelled zarr,
units on every axis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218688"/>
            <a:ext cx="404164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A2029"/>
                </a:solidFill>
                <a:latin typeface="Arial"/>
              </a:rPr>
              <a:t>It refuses rather than approximate.</a:t>
            </a:r>
          </a:p>
          <a:p>
            <a:pPr>
              <a:lnSpc>
                <a:spcPct val="128000"/>
              </a:lnSpc>
              <a:spcBef>
                <a:spcPts val="500"/>
              </a:spcBef>
            </a:pPr>
            <a:r>
              <a:rPr sz="1100" b="0">
                <a:solidFill>
                  <a:srgbClr val="566072"/>
                </a:solidFill>
                <a:latin typeface="Arial"/>
              </a:rPr>
              <a:t>striqt searches for FFT sizes that make the rate ratio an exact rational number. If it can't find one, it raises instead of getting close.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01184" y="3218688"/>
            <a:ext cx="3675887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A2029"/>
                </a:solidFill>
                <a:latin typeface="Arial"/>
              </a:rPr>
              <a:t>Y-factor is what makes it metrology.</a:t>
            </a:r>
          </a:p>
          <a:p>
            <a:pPr>
              <a:lnSpc>
                <a:spcPct val="128000"/>
              </a:lnSpc>
              <a:spcBef>
                <a:spcPts val="500"/>
              </a:spcBef>
            </a:pPr>
            <a:r>
              <a:rPr sz="1100" b="0">
                <a:solidFill>
                  <a:srgbClr val="566072"/>
                </a:solidFill>
                <a:latin typeface="Arial"/>
              </a:rPr>
              <a:t>Measured against a noise source of known temperature, so you know how much of what you're seeing the radio added itself.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279392"/>
            <a:ext cx="8010144" cy="9525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4407408"/>
            <a:ext cx="80101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8D96A5"/>
                </a:solidFill>
                <a:latin typeface="Arial"/>
              </a:rPr>
              <a:t>One command runs it:  sensor-sweep spec.yaml  →  a calibrated archive.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88352" y="32918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700" b="1" spc="180">
                <a:solidFill>
                  <a:srgbClr val="1A2029"/>
                </a:solidFill>
                <a:latin typeface="Arial"/>
              </a:rPr>
              <a:t>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88352" y="562356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00" b="1" spc="110">
                <a:solidFill>
                  <a:srgbClr val="8D96A5"/>
                </a:solidFill>
                <a:latin typeface="Arial"/>
              </a:rPr>
              <a:t>SURF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9846" y="4783226"/>
            <a:ext cx="21946" cy="43891"/>
          </a:xfrm>
          <a:prstGeom prst="rect">
            <a:avLst/>
          </a:prstGeom>
          <a:solidFill>
            <a:srgbClr val="8D96A5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38251" y="4761281"/>
            <a:ext cx="21946" cy="65837"/>
          </a:xfrm>
          <a:prstGeom prst="rect">
            <a:avLst/>
          </a:prstGeom>
          <a:solidFill>
            <a:srgbClr val="8D96A5">
              <a:alpha val="6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6656" y="4706417"/>
            <a:ext cx="21946" cy="120701"/>
          </a:xfrm>
          <a:prstGeom prst="rect">
            <a:avLst/>
          </a:prstGeom>
          <a:solidFill>
            <a:srgbClr val="8D96A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5061" y="4761281"/>
            <a:ext cx="21946" cy="65837"/>
          </a:xfrm>
          <a:prstGeom prst="rect">
            <a:avLst/>
          </a:prstGeom>
          <a:solidFill>
            <a:srgbClr val="8D96A5">
              <a:alpha val="6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53466" y="4794199"/>
            <a:ext cx="21946" cy="32918"/>
          </a:xfrm>
          <a:prstGeom prst="rect">
            <a:avLst/>
          </a:prstGeom>
          <a:solidFill>
            <a:srgbClr val="8D96A5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9846" y="4849063"/>
            <a:ext cx="740664" cy="10973"/>
          </a:xfrm>
          <a:prstGeom prst="rect">
            <a:avLst/>
          </a:prstGeom>
          <a:solidFill>
            <a:srgbClr val="8D96A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" y="4706417"/>
            <a:ext cx="822960" cy="1426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36" b="1" spc="210">
                <a:solidFill>
                  <a:srgbClr val="8D96A5"/>
                </a:solidFill>
                <a:latin typeface="Arial"/>
              </a:rPr>
              <a:t>LINDA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060704"/>
            <a:ext cx="50292" cy="1554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1060704"/>
            <a:ext cx="7498079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2029"/>
                </a:solidFill>
                <a:latin typeface="Arial"/>
              </a:rPr>
              <a:t>A clean recording doesn't mean
you recorded what you meant 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889504"/>
            <a:ext cx="7223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66072"/>
                </a:solidFill>
                <a:latin typeface="Arial"/>
              </a:rPr>
              <a:t>100 ms every 5 minutes, continuously, for about a week. You wheel the rig onto a roof, you point it, and you walk away.</a:t>
            </a:r>
          </a:p>
          <a:p>
            <a:pPr>
              <a:lnSpc>
                <a:spcPct val="135000"/>
              </a:lnSpc>
              <a:spcBef>
                <a:spcPts val="900"/>
              </a:spcBef>
            </a:pPr>
            <a:r>
              <a:rPr sz="1300" b="0">
                <a:solidFill>
                  <a:srgbClr val="566072"/>
                </a:solidFill>
                <a:latin typeface="Arial"/>
              </a:rPr>
              <a:t>A loose cable, a dead front end, an amplifier on backwards, or a band that simply had nothing in it — all four come back as a beautiful, clean archive. You find out at your desk, a week later.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D2E01-E6E1-CCD6-DD9E-C3DE30354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B28A560-DF9E-FA76-D758-AF3BA5ADE648}"/>
              </a:ext>
            </a:extLst>
          </p:cNvPr>
          <p:cNvSpPr txBox="1"/>
          <p:nvPr/>
        </p:nvSpPr>
        <p:spPr>
          <a:xfrm>
            <a:off x="666750" y="2323701"/>
            <a:ext cx="7810499" cy="4960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 dirty="0">
                <a:solidFill>
                  <a:srgbClr val="1A2029"/>
                </a:solidFill>
                <a:latin typeface="Arial"/>
              </a:rPr>
              <a:t>Live IQ Navigation and Display Application</a:t>
            </a:r>
          </a:p>
        </p:txBody>
      </p:sp>
    </p:spTree>
    <p:extLst>
      <p:ext uri="{BB962C8B-B14F-4D97-AF65-F5344CB8AC3E}">
        <p14:creationId xmlns:p14="http://schemas.microsoft.com/office/powerpoint/2010/main" val="1872180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5834" y="2413754"/>
            <a:ext cx="186538" cy="373075"/>
          </a:xfrm>
          <a:prstGeom prst="rect">
            <a:avLst/>
          </a:prstGeom>
          <a:solidFill>
            <a:srgbClr val="2563EB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92275" y="2227217"/>
            <a:ext cx="186538" cy="559613"/>
          </a:xfrm>
          <a:prstGeom prst="rect">
            <a:avLst/>
          </a:prstGeom>
          <a:solidFill>
            <a:srgbClr val="2563EB">
              <a:alpha val="6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918716" y="1760873"/>
            <a:ext cx="186538" cy="102595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45157" y="2227217"/>
            <a:ext cx="186538" cy="559613"/>
          </a:xfrm>
          <a:prstGeom prst="rect">
            <a:avLst/>
          </a:prstGeom>
          <a:solidFill>
            <a:srgbClr val="2563EB">
              <a:alpha val="6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571598" y="2507023"/>
            <a:ext cx="186538" cy="279806"/>
          </a:xfrm>
          <a:prstGeom prst="rect">
            <a:avLst/>
          </a:prstGeom>
          <a:solidFill>
            <a:srgbClr val="2563EB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65835" y="2973367"/>
            <a:ext cx="6486754" cy="9326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24479" y="1638427"/>
            <a:ext cx="4950088" cy="14573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812" b="1" spc="1784" dirty="0">
                <a:solidFill>
                  <a:srgbClr val="1A2029"/>
                </a:solidFill>
                <a:latin typeface="Arial"/>
              </a:rPr>
              <a:t>LINDA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45D911-320A-84FD-9CBB-7AEF0AE97284}"/>
              </a:ext>
            </a:extLst>
          </p:cNvPr>
          <p:cNvSpPr txBox="1"/>
          <p:nvPr/>
        </p:nvSpPr>
        <p:spPr>
          <a:xfrm>
            <a:off x="2664867" y="3095813"/>
            <a:ext cx="4434433" cy="264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dirty="0">
                <a:solidFill>
                  <a:srgbClr val="1A2029"/>
                </a:solidFill>
                <a:latin typeface="Arial"/>
              </a:rPr>
              <a:t>Live IQ Navigation and Display Application</a:t>
            </a:r>
          </a:p>
        </p:txBody>
      </p:sp>
    </p:spTree>
    <p:extLst>
      <p:ext uri="{BB962C8B-B14F-4D97-AF65-F5344CB8AC3E}">
        <p14:creationId xmlns:p14="http://schemas.microsoft.com/office/powerpoint/2010/main" val="3975980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9846" y="4783226"/>
            <a:ext cx="21946" cy="43891"/>
          </a:xfrm>
          <a:prstGeom prst="rect">
            <a:avLst/>
          </a:prstGeom>
          <a:solidFill>
            <a:srgbClr val="8D96A5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38251" y="4761281"/>
            <a:ext cx="21946" cy="65837"/>
          </a:xfrm>
          <a:prstGeom prst="rect">
            <a:avLst/>
          </a:prstGeom>
          <a:solidFill>
            <a:srgbClr val="8D96A5">
              <a:alpha val="6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76656" y="4706417"/>
            <a:ext cx="21946" cy="120701"/>
          </a:xfrm>
          <a:prstGeom prst="rect">
            <a:avLst/>
          </a:prstGeom>
          <a:solidFill>
            <a:srgbClr val="8D96A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5061" y="4761281"/>
            <a:ext cx="21946" cy="65837"/>
          </a:xfrm>
          <a:prstGeom prst="rect">
            <a:avLst/>
          </a:prstGeom>
          <a:solidFill>
            <a:srgbClr val="8D96A5">
              <a:alpha val="6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53466" y="4794199"/>
            <a:ext cx="21946" cy="32918"/>
          </a:xfrm>
          <a:prstGeom prst="rect">
            <a:avLst/>
          </a:prstGeom>
          <a:solidFill>
            <a:srgbClr val="8D96A5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9846" y="4849063"/>
            <a:ext cx="740664" cy="10973"/>
          </a:xfrm>
          <a:prstGeom prst="rect">
            <a:avLst/>
          </a:prstGeom>
          <a:solidFill>
            <a:srgbClr val="8D96A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0275" y="4706417"/>
            <a:ext cx="822960" cy="1426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36" b="1" spc="210">
                <a:solidFill>
                  <a:srgbClr val="8D96A5"/>
                </a:solidFill>
                <a:latin typeface="Arial"/>
              </a:rPr>
              <a:t>LINDA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801014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200" b="1" spc="900">
                <a:solidFill>
                  <a:srgbClr val="1A2029"/>
                </a:solidFill>
                <a:latin typeface="Arial"/>
              </a:rPr>
              <a:t>AHAWI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798064"/>
            <a:ext cx="4937760" cy="9525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3035808"/>
            <a:ext cx="76809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A2029"/>
                </a:solidFill>
                <a:latin typeface="Arial"/>
              </a:rPr>
              <a:t>One coherent 100 ms capture. One striqt pass. Replayed 20 ms at a time.</a:t>
            </a:r>
          </a:p>
          <a:p>
            <a:pPr>
              <a:lnSpc>
                <a:spcPct val="132000"/>
              </a:lnSpc>
              <a:spcBef>
                <a:spcPts val="900"/>
              </a:spcBef>
            </a:pPr>
            <a:r>
              <a:rPr sz="1200" b="0">
                <a:solidFill>
                  <a:srgbClr val="566072"/>
                </a:solidFill>
                <a:latin typeface="Arial"/>
              </a:rPr>
              <a:t>100 ms is the recording length in the real field campaign. The 5G sync burst repeats every 20 ms, so each slice holds exactly one of them — and consecutive slices really are consecutive in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32918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700" b="1" spc="180">
                <a:solidFill>
                  <a:srgbClr val="1A2029"/>
                </a:solidFill>
                <a:latin typeface="Arial"/>
              </a:rPr>
              <a:t>NIST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8352" y="562356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00" b="1" spc="110">
                <a:solidFill>
                  <a:srgbClr val="8D96A5"/>
                </a:solidFill>
                <a:latin typeface="Arial"/>
              </a:rPr>
              <a:t>SURF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88352" y="32918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700" b="1" spc="180">
                <a:solidFill>
                  <a:srgbClr val="1A2029"/>
                </a:solidFill>
                <a:latin typeface="Arial"/>
              </a:rPr>
              <a:t>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88352" y="562356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00" b="1" spc="110">
                <a:solidFill>
                  <a:srgbClr val="8D96A5"/>
                </a:solidFill>
                <a:latin typeface="Arial"/>
              </a:rPr>
              <a:t>SURF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9846" y="4783226"/>
            <a:ext cx="21946" cy="43891"/>
          </a:xfrm>
          <a:prstGeom prst="rect">
            <a:avLst/>
          </a:prstGeom>
          <a:solidFill>
            <a:srgbClr val="8D96A5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38251" y="4761281"/>
            <a:ext cx="21946" cy="65837"/>
          </a:xfrm>
          <a:prstGeom prst="rect">
            <a:avLst/>
          </a:prstGeom>
          <a:solidFill>
            <a:srgbClr val="8D96A5">
              <a:alpha val="6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6656" y="4706417"/>
            <a:ext cx="21946" cy="120701"/>
          </a:xfrm>
          <a:prstGeom prst="rect">
            <a:avLst/>
          </a:prstGeom>
          <a:solidFill>
            <a:srgbClr val="8D96A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5061" y="4761281"/>
            <a:ext cx="21946" cy="65837"/>
          </a:xfrm>
          <a:prstGeom prst="rect">
            <a:avLst/>
          </a:prstGeom>
          <a:solidFill>
            <a:srgbClr val="8D96A5">
              <a:alpha val="6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53466" y="4794199"/>
            <a:ext cx="21946" cy="32918"/>
          </a:xfrm>
          <a:prstGeom prst="rect">
            <a:avLst/>
          </a:prstGeom>
          <a:solidFill>
            <a:srgbClr val="8D96A5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9846" y="4849063"/>
            <a:ext cx="740664" cy="10973"/>
          </a:xfrm>
          <a:prstGeom prst="rect">
            <a:avLst/>
          </a:prstGeom>
          <a:solidFill>
            <a:srgbClr val="8D96A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" y="4706417"/>
            <a:ext cx="822960" cy="1426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36" b="1" spc="210">
                <a:solidFill>
                  <a:srgbClr val="8D96A5"/>
                </a:solidFill>
                <a:latin typeface="Arial"/>
              </a:rPr>
              <a:t>LINDA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9184"/>
            <a:ext cx="5486400" cy="19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spc="90">
                <a:solidFill>
                  <a:srgbClr val="2563EB"/>
                </a:solidFill>
                <a:latin typeface="Arial"/>
              </a:rPr>
              <a:t>PORTABILITY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03504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A2029"/>
                </a:solidFill>
                <a:latin typeface="Arial"/>
              </a:rPr>
              <a:t>Same software. Any radio.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371600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66072"/>
                </a:solidFill>
                <a:latin typeface="Arial"/>
              </a:rPr>
              <a:t>Two commands to install. Plug a radio in and it works out what you gave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847088"/>
            <a:ext cx="4041648" cy="1170432"/>
          </a:xfrm>
          <a:prstGeom prst="rect">
            <a:avLst/>
          </a:prstGeom>
          <a:solidFill>
            <a:srgbClr val="E4ECFD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2048256"/>
            <a:ext cx="351129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2563EB"/>
                </a:solidFill>
                <a:latin typeface="Arial"/>
              </a:rPr>
              <a:t>$20,000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1">
                <a:solidFill>
                  <a:srgbClr val="1A2029"/>
                </a:solidFill>
                <a:latin typeface="Arial"/>
              </a:rPr>
              <a:t>Deepwave AIR8201B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050" b="0">
                <a:solidFill>
                  <a:srgbClr val="566072"/>
                </a:solidFill>
                <a:latin typeface="Arial"/>
              </a:rPr>
              <a:t>Two receive channels. 125 MHz converter clock.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01184" y="1847088"/>
            <a:ext cx="4041648" cy="1170432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75504" y="2048256"/>
            <a:ext cx="351129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566072"/>
                </a:solidFill>
                <a:latin typeface="Arial"/>
              </a:rPr>
              <a:t>$2,000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1">
                <a:solidFill>
                  <a:srgbClr val="1A2029"/>
                </a:solidFill>
                <a:latin typeface="Arial"/>
              </a:rPr>
              <a:t>Commodity SDR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050" b="0">
                <a:solidFill>
                  <a:srgbClr val="566072"/>
                </a:solidFill>
                <a:latin typeface="Arial"/>
              </a:rPr>
              <a:t>One channel, over USB, on a Raspberry Pi.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255264"/>
            <a:ext cx="8010144" cy="45720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BE4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3255264"/>
            <a:ext cx="75346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A2029"/>
                </a:solidFill>
                <a:latin typeface="Courier New"/>
              </a:rPr>
              <a:t>git clone   ·   bash install_linda.sh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968496"/>
            <a:ext cx="8010144" cy="9525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4114800"/>
            <a:ext cx="80101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1">
                <a:solidFill>
                  <a:srgbClr val="1A2029"/>
                </a:solidFill>
                <a:latin typeface="Arial"/>
              </a:rPr>
              <a:t>Channel count and the list of sample rates the radio will actually accept come off the radio itself at startup. Nobody types them 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88352" y="32918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700" b="1" spc="180">
                <a:solidFill>
                  <a:srgbClr val="1A2029"/>
                </a:solidFill>
                <a:latin typeface="Arial"/>
              </a:rPr>
              <a:t>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88352" y="562356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00" b="1" spc="110">
                <a:solidFill>
                  <a:srgbClr val="8D96A5"/>
                </a:solidFill>
                <a:latin typeface="Arial"/>
              </a:rPr>
              <a:t>SURF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50292" cy="13898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841248"/>
            <a:ext cx="74066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>
                <a:solidFill>
                  <a:srgbClr val="1A2029"/>
                </a:solidFill>
                <a:latin typeface="Arial"/>
              </a:rPr>
              <a:t>The next person who puts one of these on a roof
will know, in the first ten seconds,
whether the week is going to be worth anything.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8010144" cy="9525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2798064"/>
            <a:ext cx="2651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A2029"/>
                </a:solidFill>
                <a:latin typeface="Arial"/>
              </a:rPr>
              <a:t>And not only 5G and dams.</a:t>
            </a:r>
          </a:p>
          <a:p>
            <a:pPr>
              <a:lnSpc>
                <a:spcPct val="128000"/>
              </a:lnSpc>
              <a:spcBef>
                <a:spcPts val="500"/>
              </a:spcBef>
            </a:pPr>
            <a:r>
              <a:rPr sz="1050" b="0">
                <a:solidFill>
                  <a:srgbClr val="566072"/>
                </a:solidFill>
                <a:latin typeface="Arial"/>
              </a:rPr>
              <a:t>Is this new signal going to step on that critical one? The question is everywhere right now.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3008" y="2798064"/>
            <a:ext cx="1645920" cy="786384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9312" y="2798064"/>
            <a:ext cx="13716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563EB"/>
                </a:solidFill>
                <a:latin typeface="Arial"/>
              </a:rPr>
              <a:t>CBRS</a:t>
            </a:r>
          </a:p>
          <a:p>
            <a:pPr>
              <a:lnSpc>
                <a:spcPct val="122000"/>
              </a:lnSpc>
              <a:spcBef>
                <a:spcPts val="300"/>
              </a:spcBef>
            </a:pPr>
            <a:r>
              <a:rPr sz="900" b="0">
                <a:solidFill>
                  <a:srgbClr val="566072"/>
                </a:solidFill>
                <a:latin typeface="Arial"/>
              </a:rPr>
              <a:t>and naval radar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48656" y="2798064"/>
            <a:ext cx="1645920" cy="786384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94960" y="2798064"/>
            <a:ext cx="13716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563EB"/>
                </a:solidFill>
                <a:latin typeface="Arial"/>
              </a:rPr>
              <a:t>6 GHz Wi-Fi</a:t>
            </a:r>
          </a:p>
          <a:p>
            <a:pPr>
              <a:lnSpc>
                <a:spcPct val="122000"/>
              </a:lnSpc>
              <a:spcBef>
                <a:spcPts val="300"/>
              </a:spcBef>
            </a:pPr>
            <a:r>
              <a:rPr sz="900" b="0">
                <a:solidFill>
                  <a:srgbClr val="566072"/>
                </a:solidFill>
                <a:latin typeface="Arial"/>
              </a:rPr>
              <a:t>over utility microwave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04304" y="2798064"/>
            <a:ext cx="1645920" cy="786384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50608" y="2798064"/>
            <a:ext cx="13716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563EB"/>
                </a:solidFill>
                <a:latin typeface="Arial"/>
              </a:rPr>
              <a:t>Radar altimeters</a:t>
            </a:r>
          </a:p>
          <a:p>
            <a:pPr>
              <a:lnSpc>
                <a:spcPct val="122000"/>
              </a:lnSpc>
              <a:spcBef>
                <a:spcPts val="300"/>
              </a:spcBef>
            </a:pPr>
            <a:r>
              <a:rPr sz="900" b="0">
                <a:solidFill>
                  <a:srgbClr val="566072"/>
                </a:solidFill>
                <a:latin typeface="Arial"/>
              </a:rPr>
              <a:t>and 5G in C-band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986784"/>
            <a:ext cx="8010144" cy="9525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4133087"/>
            <a:ext cx="80101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8D96A5"/>
                </a:solidFill>
                <a:latin typeface="Arial"/>
              </a:rPr>
              <a:t>striqt: Dan Kuester   ·   Measurement framing: Aric Sanders   ·   NIST Communications Technology Laboratory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65014" y="4198193"/>
            <a:ext cx="26335" cy="52669"/>
          </a:xfrm>
          <a:prstGeom prst="rect">
            <a:avLst/>
          </a:prstGeom>
          <a:solidFill>
            <a:srgbClr val="8D96A5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11100" y="4171859"/>
            <a:ext cx="26335" cy="79004"/>
          </a:xfrm>
          <a:prstGeom prst="rect">
            <a:avLst/>
          </a:prstGeom>
          <a:solidFill>
            <a:srgbClr val="8D96A5">
              <a:alpha val="6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57186" y="4106022"/>
            <a:ext cx="26335" cy="144841"/>
          </a:xfrm>
          <a:prstGeom prst="rect">
            <a:avLst/>
          </a:prstGeom>
          <a:solidFill>
            <a:srgbClr val="8D96A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03271" y="4171859"/>
            <a:ext cx="26335" cy="79004"/>
          </a:xfrm>
          <a:prstGeom prst="rect">
            <a:avLst/>
          </a:prstGeom>
          <a:solidFill>
            <a:srgbClr val="8D96A5">
              <a:alpha val="6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49357" y="4211361"/>
            <a:ext cx="26335" cy="39502"/>
          </a:xfrm>
          <a:prstGeom prst="rect">
            <a:avLst/>
          </a:prstGeom>
          <a:solidFill>
            <a:srgbClr val="8D96A5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565014" y="4277197"/>
            <a:ext cx="1198230" cy="13167"/>
          </a:xfrm>
          <a:prstGeom prst="rect">
            <a:avLst/>
          </a:prstGeom>
          <a:solidFill>
            <a:srgbClr val="8D96A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41529" y="4106022"/>
            <a:ext cx="987552" cy="171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44" b="1" spc="252">
                <a:solidFill>
                  <a:srgbClr val="8D96A5"/>
                </a:solidFill>
                <a:latin typeface="Arial"/>
              </a:rPr>
              <a:t>LINDA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1113</Words>
  <Application>Microsoft Macintosh PowerPoint</Application>
  <PresentationFormat>On-screen Show (16:9)</PresentationFormat>
  <Paragraphs>136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Omran, Mustafa</cp:lastModifiedBy>
  <cp:revision>2</cp:revision>
  <dcterms:created xsi:type="dcterms:W3CDTF">2013-01-27T09:14:16Z</dcterms:created>
  <dcterms:modified xsi:type="dcterms:W3CDTF">2026-08-03T02:35:12Z</dcterms:modified>
  <cp:category/>
</cp:coreProperties>
</file>